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71" r:id="rId22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866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jpg"/><Relationship Id="rId7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3.png"/><Relationship Id="rId4" Type="http://schemas.openxmlformats.org/officeDocument/2006/relationships/image" Target="../media/image19.png"/><Relationship Id="rId9" Type="http://schemas.openxmlformats.org/officeDocument/2006/relationships/image" Target="../media/image2.png"/></Relationships>
</file>

<file path=ppt/slides/_rels/slide13.xml.rels><?xml version="1.0" encoding="UTF-8"?>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2.png"/></Relationships>
</file>

<file path=ppt/slides/_rels/slide14.xml.rels><?xml version="1.0" encoding="UTF-8"?>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Relationship Id="rId9" Type="http://schemas.openxmlformats.org/officeDocument/2006/relationships/image" Target="../media/image3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?>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4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4919B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AD4E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4919B">
              <a:alpha val="2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6400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FormaFix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Physiotherapy &amp; Rehabilitation System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246120"/>
            <a:ext cx="2743200" cy="0"/>
          </a:xfrm>
          <a:prstGeom prst="line">
            <a:avLst/>
          </a:prstGeom>
          <a:noFill/>
          <a:ln w="19050">
            <a:solidFill>
              <a:srgbClr val="0AD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Presentation  •  March 2026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2103120" y="4206240"/>
            <a:ext cx="1645920" cy="347472"/>
          </a:xfrm>
          <a:prstGeom prst="rect">
            <a:avLst/>
          </a:prstGeom>
          <a:solidFill>
            <a:srgbClr val="14919B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103120" y="4206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31920" y="4206240"/>
            <a:ext cx="1645920" cy="347472"/>
          </a:xfrm>
          <a:prstGeom prst="rect">
            <a:avLst/>
          </a:prstGeom>
          <a:solidFill>
            <a:srgbClr val="14919B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3931920" y="4206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4206240"/>
            <a:ext cx="1645920" cy="347472"/>
          </a:xfrm>
          <a:prstGeom prst="rect">
            <a:avLst/>
          </a:prstGeom>
          <a:solidFill>
            <a:srgbClr val="14919B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760720" y="4206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</a:t>
            </a:r>
            <a:endParaRPr lang="en-US" sz="900" dirty="0"/>
          </a:p>
        </p:txBody>
      </p:sp>
      <p:pic>
        <p:nvPicPr>
          <p:cNvPr id="16" name="Picture 15" descr="formafix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17" name="Picture 16" descr="nti_logo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Team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FormaFix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team_photos/mohammed_ref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1325880"/>
            <a:ext cx="960120" cy="9601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Mohammed Refat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29000" y="118872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1" descr="team_photos/youssef_alamg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1325880"/>
            <a:ext cx="960120" cy="96012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Youssef Al-Amgad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80760" y="118872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2" descr="team_photos/kerolos_nabi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1325880"/>
            <a:ext cx="960120" cy="960120"/>
          </a:xfrm>
          <a:prstGeom prst="ellipse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807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Kerolos Nabil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103120" y="30632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mage 3" descr="team_photos/ahmed_abdelkhale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060" y="3200400"/>
            <a:ext cx="960120" cy="960120"/>
          </a:xfrm>
          <a:prstGeom prst="ellipse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10312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Ahmed Abdel-Khalek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754880" y="30632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8" name="Image 4" descr="team_photos/ahmed_elmohamd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820" y="3200400"/>
            <a:ext cx="960120" cy="960120"/>
          </a:xfrm>
          <a:prstGeom prst="ellipse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5488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Ahmed El-Mohamdy</a:t>
            </a:r>
            <a:endParaRPr lang="en-US" sz="1300" dirty="0"/>
          </a:p>
        </p:txBody>
      </p:sp>
      <p:pic>
        <p:nvPicPr>
          <p:cNvPr id="20" name="Picture 19" descr="formafix_logo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21" name="Picture 20" descr="nti_logo_cle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28" dur="indefinite" nodeType="mainSeq"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set>
                          <p:cBhvr>
                            <p:cTn id="30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2" dur="indefinite" nodeType="mainSeq">
                <p:childTnLst>
                  <p:par>
                    <p:cTn id="33" fill="hold">
                      <p:stCondLst>
                        <p:cond delay="300"/>
                      </p:stCondLst>
                      <p:childTnLst>
                        <p:set>
                          <p:cBhvr>
                            <p:cTn id="34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6" dur="indefinite" nodeType="mainSeq">
                <p:childTnLst>
                  <p:par>
                    <p:cTn id="37" fill="hold">
                      <p:stCondLst>
                        <p:cond delay="60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11" grpId="0" animBg="1"/>
      <p:bldP spid="14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physiotherapy falls short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" cy="1371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Supervision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2011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perform exercises at home with no professional feedback or correction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4630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54864" cy="13716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373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Cost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40680" y="2011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clinic visits are expensive and logistically challenging for many patients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54864" cy="1371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375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Re-Injury Risk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23444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form without real-time correction can worsen existing conditions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30632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4663440" y="3063240"/>
            <a:ext cx="54864" cy="13716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3375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Adherence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4068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lose motivation without progress tracking and encouragement</a:t>
            </a:r>
            <a:endParaRPr lang="en-US" sz="1150" dirty="0"/>
          </a:p>
        </p:txBody>
      </p:sp>
      <p:pic>
        <p:nvPicPr>
          <p:cNvPr id="25" name="Picture 24" descr="formafix_logo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26" name="Picture 25" descr="nti_logo_cle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FormaFix — Accessible, intelligent rehabilitation guidance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21792" y="160020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916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270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Pose Estimation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8016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or smartphone camera tracks 33 body landmarks using MediaPipe BlazePose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828032" y="160020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6916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5270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Biomechanical Analysis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angles calculated with trigonometry and compared against clinical thresholds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25146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621792" y="269748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7889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624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Safety-First Feedback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28016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priority system: Safety Stop → Form Correction → Motivation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25146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4828032" y="269748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7889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624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Tracking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48640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logged and analyzed to surface recovery trends over time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36118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621792" y="379476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8862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3721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Coaching Agent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28016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feedback generated dynamically using an LLM integration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663440" y="36118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4"/>
          <p:cNvSpPr/>
          <p:nvPr/>
        </p:nvSpPr>
        <p:spPr>
          <a:xfrm>
            <a:off x="4828032" y="379476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388620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21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Difficulty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548640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parameters auto-adjust based on patient performance history</a:t>
            </a:r>
            <a:endParaRPr lang="en-US" sz="1050" dirty="0"/>
          </a:p>
        </p:txBody>
      </p:sp>
      <p:pic>
        <p:nvPicPr>
          <p:cNvPr id="35" name="Picture 34" descr="formafix_logo_cle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36" name="Picture 35" descr="nti_logo_cle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camera to feedback in under 100ms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097280" cy="777240"/>
          </a:xfrm>
          <a:prstGeom prst="rect">
            <a:avLst/>
          </a:prstGeom>
          <a:solidFill>
            <a:srgbClr val="0B6E72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65960" y="1554480"/>
            <a:ext cx="1097280" cy="777240"/>
          </a:xfrm>
          <a:prstGeom prst="rect">
            <a:avLst/>
          </a:prstGeom>
          <a:solidFill>
            <a:srgbClr val="14919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965960" y="15544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155448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1097280" cy="777240"/>
          </a:xfrm>
          <a:prstGeom prst="rect">
            <a:avLst/>
          </a:prstGeom>
          <a:solidFill>
            <a:srgbClr val="0B6E72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155448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1554480"/>
            <a:ext cx="1097280" cy="777240"/>
          </a:xfrm>
          <a:prstGeom prst="rect">
            <a:avLst/>
          </a:prstGeom>
          <a:solidFill>
            <a:srgbClr val="14919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00600" y="15544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97880" y="155448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1097280" cy="777240"/>
          </a:xfrm>
          <a:prstGeom prst="rect">
            <a:avLst/>
          </a:prstGeom>
          <a:solidFill>
            <a:srgbClr val="0B6E72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217920" y="15544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Coaching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0" y="155448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35240" y="1554480"/>
            <a:ext cx="1097280" cy="777240"/>
          </a:xfrm>
          <a:prstGeom prst="rect">
            <a:avLst/>
          </a:prstGeom>
          <a:solidFill>
            <a:srgbClr val="14919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635240" y="15544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Total Latency: &lt; 100ms on standard hardware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Layer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2024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fps capture, frame buffering, resolution normalization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 Layer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BlazePose extracts 33 3D body landmarks per frame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502119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Layer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20240" y="3502119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angles computed via trigonometry, compared to clinical thresholds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502119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Gate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3502119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deviations flagged instantly — e.g., knee valgus &gt; 15°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900269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Layer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874520" y="3900269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coaching (TTS) + visual skeleton overlay on screen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3900269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72200" y="3900269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data logged to SQLite/Firebase for trend analysis</a:t>
            </a:r>
            <a:endParaRPr lang="en-US" sz="1000" dirty="0"/>
          </a:p>
        </p:txBody>
      </p:sp>
      <p:pic>
        <p:nvPicPr>
          <p:cNvPr id="36" name="Picture 35" descr="formafix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37" name="Picture 36" descr="nti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s Used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</a:rPr>
              <a:t>Models Used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</a:rPr>
              <a:t>AI and computer vision models powering the FormaFix pipeline</a:t>
            </a:r>
          </a:p>
        </p:txBody>
      </p:sp>
      <p:sp>
        <p:nvSpPr>
          <p:cNvPr id="5" name="LeftHeader"/>
          <p:cNvSpPr/>
          <p:nvPr/>
        </p:nvSpPr>
        <p:spPr>
          <a:xfrm>
            <a:off x="457200" y="1280160"/>
            <a:ext cx="4023360" cy="304800"/>
          </a:xfrm>
          <a:prstGeom prst="rect">
            <a:avLst/>
          </a:prstGeom>
          <a:solidFill>
            <a:srgbClr val="0B6E72"/>
          </a:solidFill>
          <a:ln/>
        </p:spPr>
        <p:txBody>
          <a:bodyPr wrap="square" lIns="91440" tIns="38100" rIns="9144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</a:rPr>
              <a:t>Computer Vision Models</a:t>
            </a:r>
          </a:p>
        </p:txBody>
      </p:sp>
      <p:sp>
        <p:nvSpPr>
          <p:cNvPr id="6" name="Card_MediaPipe"/>
          <p:cNvSpPr/>
          <p:nvPr/>
        </p:nvSpPr>
        <p:spPr>
          <a:xfrm>
            <a:off x="457200" y="1645920"/>
            <a:ext cx="4023360" cy="1066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rotWithShape="0">
              <a:srgbClr val="000000">
                <a:alpha val="8000"/>
              </a:srgbClr>
            </a:outerShdw>
          </a:effectLst>
        </p:spPr>
        <p:txBody>
          <a:bodyPr wrap="square" lIns="152400" tIns="114300" rIns="152400" bIns="11430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6E72"/>
                </a:solidFill>
                <a:latin typeface="Trebuchet MS" pitchFamily="34" charset="0"/>
              </a:rPr>
              <a:t>MediaPipe BlazePose Heavy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</a:rPr>
              <a:t xml:space="preserve">Role: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</a:rPr>
              <a:t>Real-time body landmark detection (33 points)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</a:rPr>
              <a:t xml:space="preserve">Output: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</a:rPr>
              <a:t>x, y, z coordinates + visibility score per landmark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</a:rPr>
              <a:t xml:space="preserve">Speed: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</a:rPr>
              <a:t>~25ms on CPU  |  No GPU or internet required</a:t>
            </a:r>
          </a:p>
        </p:txBody>
      </p:sp>
      <p:sp>
        <p:nvSpPr>
          <p:cNvPr id="7" name="Card_OpenCV"/>
          <p:cNvSpPr/>
          <p:nvPr/>
        </p:nvSpPr>
        <p:spPr>
          <a:xfrm>
            <a:off x="457200" y="2773440"/>
            <a:ext cx="4023360" cy="883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rotWithShape="0">
              <a:srgbClr val="000000">
                <a:alpha val="8000"/>
              </a:srgbClr>
            </a:outerShdw>
          </a:effectLst>
        </p:spPr>
        <p:txBody>
          <a:bodyPr wrap="square" lIns="152400" tIns="114300" rIns="152400" bIns="11430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6E72"/>
                </a:solidFill>
                <a:latin typeface="Trebuchet MS" pitchFamily="34" charset="0"/>
              </a:rPr>
              <a:t>OpenCV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</a:rPr>
              <a:t xml:space="preserve">Role: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</a:rPr>
              <a:t>Camera capture, frame processing, skeleton overlay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</a:rPr>
              <a:t xml:space="preserve">Speed: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</a:rPr>
              <a:t>30-60 fps  |  3-5ms per frame capture</a:t>
            </a:r>
          </a:p>
        </p:txBody>
      </p:sp>
      <p:sp>
        <p:nvSpPr>
          <p:cNvPr id="8" name="RightHeader"/>
          <p:cNvSpPr/>
          <p:nvPr/>
        </p:nvSpPr>
        <p:spPr>
          <a:xfrm>
            <a:off x="4663440" y="1280160"/>
            <a:ext cx="4023360" cy="304800"/>
          </a:xfrm>
          <a:prstGeom prst="rect">
            <a:avLst/>
          </a:prstGeom>
          <a:solidFill>
            <a:srgbClr val="1A2332"/>
          </a:solidFill>
          <a:ln/>
        </p:spPr>
        <p:txBody>
          <a:bodyPr wrap="square" lIns="91440" tIns="38100" rIns="9144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</a:rPr>
              <a:t>Language Models (LLM)</a:t>
            </a:r>
          </a:p>
        </p:txBody>
      </p:sp>
      <p:sp>
        <p:nvSpPr>
          <p:cNvPr id="9" name="Card_Claude"/>
          <p:cNvSpPr/>
          <p:nvPr/>
        </p:nvSpPr>
        <p:spPr>
          <a:xfrm>
            <a:off x="4663440" y="1645920"/>
            <a:ext cx="4023360" cy="1066800"/>
          </a:xfrm>
          <a:prstGeom prst="rect">
            <a:avLst/>
          </a:prstGeom>
          <a:solidFill>
            <a:srgbClr val="FFFFFF"/>
          </a:solidFill>
          <a:ln>
            <a:solidFill>
              <a:srgbClr val="0B6E72"/>
            </a:solidFill>
          </a:ln>
          <a:effectLst>
            <a:outerShdw blurRad="101600" dist="25400" dir="8100000" rotWithShape="0">
              <a:srgbClr val="000000">
                <a:alpha val="8000"/>
              </a:srgbClr>
            </a:outerShdw>
          </a:effectLst>
        </p:spPr>
        <p:txBody>
          <a:bodyPr wrap="square" lIns="152400" tIns="114300" rIns="152400" bIns="11430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Trebuchet MS" pitchFamily="34" charset="0"/>
              </a:rPr>
              <a:t xml:space="preserve">Claude Sonnet  </a:t>
            </a:r>
            <a:r>
              <a:rPr lang="en-US" sz="1050" b="1" dirty="0">
                <a:solidFill>
                  <a:srgbClr val="0B6E72"/>
                </a:solidFill>
                <a:latin typeface="Calibri" pitchFamily="34" charset="0"/>
              </a:rPr>
              <a:t>(Primary)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</a:rPr>
              <a:t xml:space="preserve">Provider: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</a:rPr>
              <a:t>Anthropic  (claude-sonnet-4-20250514)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</a:rPr>
              <a:t xml:space="preserve">Role: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</a:rPr>
              <a:t>Rehab agent, session coaching, progress reports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</a:rPr>
              <a:t xml:space="preserve">Limit: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</a:rPr>
              <a:t>2000 tokens/request  |  Used via Anthropic REST API</a:t>
            </a:r>
          </a:p>
        </p:txBody>
      </p:sp>
      <p:sp>
        <p:nvSpPr>
          <p:cNvPr id="10" name="Card_Gemini"/>
          <p:cNvSpPr/>
          <p:nvPr/>
        </p:nvSpPr>
        <p:spPr>
          <a:xfrm>
            <a:off x="4663440" y="2773440"/>
            <a:ext cx="1951800" cy="883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rotWithShape="0">
              <a:srgbClr val="000000">
                <a:alpha val="8000"/>
              </a:srgbClr>
            </a:outerShdw>
          </a:effectLst>
        </p:spPr>
        <p:txBody>
          <a:bodyPr wrap="square" lIns="152400" tIns="114300" rIns="152400" bIns="1143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</a:rPr>
              <a:t>Gemini 2.5 Flash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</a:rPr>
              <a:t>Google  |  Cloud LLM fallback option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</a:rPr>
              <a:t>8000 tokens/request</a:t>
            </a:r>
          </a:p>
        </p:txBody>
      </p:sp>
      <p:sp>
        <p:nvSpPr>
          <p:cNvPr id="11" name="Card_Ollama"/>
          <p:cNvSpPr/>
          <p:nvPr/>
        </p:nvSpPr>
        <p:spPr>
          <a:xfrm>
            <a:off x="6735000" y="2773440"/>
            <a:ext cx="1951800" cy="883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rotWithShape="0">
              <a:srgbClr val="000000">
                <a:alpha val="8000"/>
              </a:srgbClr>
            </a:outerShdw>
          </a:effectLst>
        </p:spPr>
        <p:txBody>
          <a:bodyPr wrap="square" lIns="152400" tIns="114300" rIns="152400" bIns="1143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</a:rPr>
              <a:t>Ollama / LLaMA3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</a:rPr>
              <a:t>On-device  |  Fully offline mode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</a:rPr>
              <a:t>No API key required</a:t>
            </a:r>
          </a:p>
        </p:txBody>
      </p:sp>
      <p:sp>
        <p:nvSpPr>
          <p:cNvPr id="12" name="FooterBar"/>
          <p:cNvSpPr/>
          <p:nvPr/>
        </p:nvSpPr>
        <p:spPr>
          <a:xfrm>
            <a:off x="457200" y="3810360"/>
            <a:ext cx="8229600" cy="304800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lIns="152400" tIns="38100" rIns="152400" bIns="381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E72"/>
                </a:solidFill>
                <a:latin typeface="Calibri" pitchFamily="34" charset="0"/>
              </a:rPr>
              <a:t xml:space="preserve">Audio: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</a:rPr>
              <a:t xml:space="preserve">pyttsx3 (offline TTS, 5-15ms) — no internet required      </a:t>
            </a:r>
            <a:r>
              <a:rPr lang="en-US" sz="1050" b="1" dirty="0">
                <a:solidFill>
                  <a:srgbClr val="0B6E72"/>
                </a:solidFill>
                <a:latin typeface="Calibri" pitchFamily="34" charset="0"/>
              </a:rPr>
              <a:t xml:space="preserve">Math: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</a:rPr>
              <a:t>NumPy — joint angle computation via arctan2 (&lt;1ms per frame)</a:t>
            </a:r>
          </a:p>
        </p:txBody>
      </p:sp>
      <p:pic>
        <p:nvPicPr>
          <p:cNvPr id="13" name="Picture 12" descr="formafix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14" name="Picture 13" descr="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Coaching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context-aware feedback generation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Receives form evaluation results each frame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Determines priority: Critical → Correction → Motivation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Selects appropriate message from exercise-specific library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Applies cooldown timer to prevent feedback overload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Optionally generates varied phrasing via LLM (GPT-4o-mini)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Delivers feedback through audio (TTS) and visual overlay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9834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Three-Tier Feedback Hierarchy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83480" y="2057400"/>
            <a:ext cx="3474720" cy="71323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983480" y="2057400"/>
            <a:ext cx="45720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166360" y="2103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— SAFETY STOP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6636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 exceeds injury threshold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Stop rep immediately, protect patient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83480" y="2926080"/>
            <a:ext cx="3474720" cy="713232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983480" y="2926080"/>
            <a:ext cx="45720" cy="7132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166360" y="2971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— FORM CORRECTION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6636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outside optimal range but not dangerous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Continue rep, cue verbal correction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83480" y="3794760"/>
            <a:ext cx="3474720" cy="713232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983480" y="3794760"/>
            <a:ext cx="45720" cy="7132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166360" y="3840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— MOTIVATION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6636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is acceptable, rep is valid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Encourage and reinforce good form</a:t>
            </a:r>
            <a:endParaRPr lang="en-US" sz="950" dirty="0"/>
          </a:p>
        </p:txBody>
      </p:sp>
      <p:pic>
        <p:nvPicPr>
          <p:cNvPr id="22" name="Picture 21" descr="formafix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23" name="Picture 22" descr="nti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 — MediaPipe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body landmark detection with BlazePose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3D body landmarks detected per frame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30+ fps on standard CPU — no GPU needed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processing (no internet required)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x, y, z coordinates + visibility score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webcam and mobile camera input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model: ~5ms on GPU, ~25ms on CPU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9834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Rehabilitation Landmarks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057400"/>
          <a:ext cx="3657600" cy="14097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 (11, 12)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Press, Lateral Raise, Rotator Cuff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Elbow (13, 14)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Bicep Curl, Tricep Extension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 (23, 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Squat, Lunge, Hip Hinge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Knee (25, 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Squat, Lunge, Step-Up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Ankle (27, 28)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Squat Depth, Calf Raise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Picture 9" descr="formafix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11" name="Picture 10" descr="nti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 Calculation &amp; Form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Trigonometric analysis for precise movement scoring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45178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85800" y="133661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Angles Are Calculated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0237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landmark points define each joint (A, B, C)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the joint vertex (e.g., knee = hip → knee → ankle)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BA and BC computed, then dot product gives angle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 degrees compared to clinical threshold ranges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45178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983480" y="133661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Threshold Examples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394708"/>
              </p:ext>
            </p:extLst>
          </p:nvPr>
        </p:nvGraphicFramePr>
        <p:xfrm>
          <a:off x="4892040" y="1748098"/>
          <a:ext cx="3657600" cy="101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Squat (Knee)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80°–100°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45°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Bicep Curl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30°–150°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 Press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80°–160°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170°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Lunge (Knee)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80°–100°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2894615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85800" y="2986055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 State Machine — Tracking Exercise Phases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1520" y="3488975"/>
            <a:ext cx="1234440" cy="502920"/>
          </a:xfrm>
          <a:prstGeom prst="rect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31520" y="3488975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965960" y="3488975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240280" y="3488975"/>
            <a:ext cx="1234440" cy="502920"/>
          </a:xfrm>
          <a:prstGeom prst="rect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240280" y="3488975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DESCENDING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0" y="3488975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749040" y="3488975"/>
            <a:ext cx="1234440" cy="502920"/>
          </a:xfrm>
          <a:prstGeom prst="rect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749040" y="3488975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BOTTOM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83480" y="3488975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257800" y="3488975"/>
            <a:ext cx="1234440" cy="502920"/>
          </a:xfrm>
          <a:prstGeom prst="rect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5257800" y="3488975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ASCENDING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92240" y="3488975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766560" y="3488975"/>
            <a:ext cx="1234440" cy="50292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6766560" y="3488975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31520" y="4083335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counter increments only on a complete cycle: START → DESCENDING → BOTTOM → ASCENDING → COMPLETE</a:t>
            </a:r>
            <a:endParaRPr lang="en-US" sz="950" dirty="0"/>
          </a:p>
        </p:txBody>
      </p:sp>
      <p:pic>
        <p:nvPicPr>
          <p:cNvPr id="28" name="Picture 27" descr="formafix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29" name="Picture 28" descr="nti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 &amp; Feedback Loop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94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flow from camera frame to patient feedback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930185"/>
              </p:ext>
            </p:extLst>
          </p:nvPr>
        </p:nvGraphicFramePr>
        <p:xfrm>
          <a:off x="457200" y="1130879"/>
          <a:ext cx="8229600" cy="2301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Capture (OpenCV)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size =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BlazePose (CPU)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20–35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model_complexity=1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 Calculation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NumPy vectors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lookups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(pyttsx3 offline)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Pre-rendered .wav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Overlay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draw on 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91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~35–65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91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 under 100ms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91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85800" y="3511637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911195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All core processing runs on-device with zero internet dependency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audio: All feedback strings converted to .wav at startup for &lt; 5ms playback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data logging: Progress agent writes to SQLite/Firebase without blocking the feedback loop</a:t>
            </a:r>
            <a:endParaRPr lang="en-US" sz="1100" dirty="0"/>
          </a:p>
        </p:txBody>
      </p:sp>
      <p:pic>
        <p:nvPicPr>
          <p:cNvPr id="10" name="Picture 9" descr="formafix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11" name="Picture 10" descr="nti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Key Metrics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targets and system capabilities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100ms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Latency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to audio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90%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Pose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rehab exercises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5°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 Error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468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measurement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11811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Data Retention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 rolling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Library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 rehab exercises (v1)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iOS, Android, Web (PWA)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Smoothing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consecutive frames for safety stop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" name="Picture 16" descr="formafix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18" name="Picture 17" descr="nti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Application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AI-powered rehab to every patient's pocket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Concept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cross-platform mobile app (React Native + Expo) that puts FormaFix's full AI pipeline in the patient's hands — from camera-based exercise tracking to personalized recovery plans.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777240" cy="256032"/>
          </a:xfrm>
          <a:prstGeom prst="rect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54480" y="2788920"/>
            <a:ext cx="777240" cy="256032"/>
          </a:xfrm>
          <a:prstGeom prst="rect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554480" y="278892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Camera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23160" y="2788920"/>
            <a:ext cx="777240" cy="256032"/>
          </a:xfrm>
          <a:prstGeom prst="rect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423160" y="278892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91840" y="2788920"/>
            <a:ext cx="777240" cy="256032"/>
          </a:xfrm>
          <a:prstGeom prst="rect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291840" y="278892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Modes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(On-Device): Full pipeline locally — lowest latency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Pose on-device + cloud analytics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PWA: Browser-based for desktop access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9834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83480" y="2103120"/>
            <a:ext cx="365760" cy="36576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167128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22392" y="21031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Tracking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22392" y="230428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pose estimation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766560" y="2103120"/>
            <a:ext cx="365760" cy="36576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167128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205472" y="21031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Feedback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7205472" y="230428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visual corrections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4983480" y="2971800"/>
            <a:ext cx="365760" cy="36576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035808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22392" y="297180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5422392" y="317296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trends &amp; history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766560" y="2971800"/>
            <a:ext cx="365760" cy="36576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3035808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205472" y="297180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Reminders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7205472" y="317296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schedule alerts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4983480" y="3840480"/>
            <a:ext cx="365760" cy="36576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3904488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422392" y="38404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Mode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5422392" y="40416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6766560" y="3840480"/>
            <a:ext cx="365760" cy="36576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0568" y="3904488"/>
            <a:ext cx="237744" cy="23774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205472" y="38404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First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7205472" y="40416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video stays on-device</a:t>
            </a:r>
            <a:endParaRPr lang="en-US" sz="850" dirty="0"/>
          </a:p>
        </p:txBody>
      </p:sp>
      <p:pic>
        <p:nvPicPr>
          <p:cNvPr id="44" name="Picture 43" descr="formafix_logo_cle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45" name="Picture 44" descr="nti_logo_cle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 &amp; Roadmap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FormaFix beyond the MVP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21792" y="160020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916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270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Expanded Exercise Library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8016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3 to 30+ rehabilitation exercises with validated clinical thresholds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828032" y="160020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6916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5270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LLM-Powered Coaching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GPT-4o or Mistral for varied, empathetic natural-language guidance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25146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621792" y="269748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7889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624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Injury Prediction Model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28016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to predict potential injury risks from movement pattern analysis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25146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4828032" y="269748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7889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624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Therapist Portal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48640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clinicians to monitor patient progress and adjust plans remotely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36118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621792" y="379476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8862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3721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Store Launch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28016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and Android release via Expo with full onboarding flow and demo video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663440" y="36118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4"/>
          <p:cNvSpPr/>
          <p:nvPr/>
        </p:nvSpPr>
        <p:spPr>
          <a:xfrm>
            <a:off x="4828032" y="3794760"/>
            <a:ext cx="502920" cy="502920"/>
          </a:xfrm>
          <a:prstGeom prst="ellipse">
            <a:avLst/>
          </a:prstGeom>
          <a:solidFill>
            <a:srgbClr val="D0F4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388620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21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Wearable Integration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548640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smartwatches and IMU sensors for enhanced motion tracking accuracy</a:t>
            </a:r>
            <a:endParaRPr lang="en-US" sz="1050" dirty="0"/>
          </a:p>
        </p:txBody>
      </p:sp>
      <p:pic>
        <p:nvPicPr>
          <p:cNvPr id="35" name="Picture 34" descr="formafix_logo_cle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36" name="Picture 35" descr="nti_logo_cle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Team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FormaFix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team_photos/mohammed_ref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1325880"/>
            <a:ext cx="960120" cy="9601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Mohammed Refat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29000" y="118872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1" descr="team_photos/youssef_alamg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940" y="1325880"/>
            <a:ext cx="960120" cy="96012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Youssef Al-Amgad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80760" y="118872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2" descr="team_photos/kerolos_nabi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1325880"/>
            <a:ext cx="960120" cy="960120"/>
          </a:xfrm>
          <a:prstGeom prst="ellipse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807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Kerolos Nabil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103120" y="30632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mage 3" descr="team_photos/ahmed_abdelkhale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6060" y="3200400"/>
            <a:ext cx="960120" cy="960120"/>
          </a:xfrm>
          <a:prstGeom prst="ellipse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10312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Ahmed Abdel-Khalek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754880" y="30632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8" name="Image 4" descr="team_photos/ahmed_elmohamd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7820" y="3200400"/>
            <a:ext cx="960120" cy="960120"/>
          </a:xfrm>
          <a:prstGeom prst="ellipse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5488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Ahmed El-Mohamdy</a:t>
            </a:r>
            <a:endParaRPr lang="en-US" sz="1300" dirty="0"/>
          </a:p>
        </p:txBody>
      </p:sp>
      <p:pic>
        <p:nvPicPr>
          <p:cNvPr id="20" name="Picture 19" descr="formafix_logo_cle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21" name="Picture 20" descr="nti_logo_cle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4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4919B">
              <a:alpha val="2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0AD4E4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144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474720" y="2606040"/>
            <a:ext cx="2194560" cy="0"/>
          </a:xfrm>
          <a:prstGeom prst="line">
            <a:avLst/>
          </a:prstGeom>
          <a:noFill/>
          <a:ln w="19050">
            <a:solidFill>
              <a:srgbClr val="0AD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FormaFix  •  AI-Powered Physiotherapy &amp; Rehabilitation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9" name="Picture 8" descr="formafix_logo_clean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74320" y="4446128"/>
            <a:ext cx="822960" cy="423052"/>
          </a:xfrm>
          <a:prstGeom prst="rect">
            <a:avLst/>
          </a:prstGeom>
        </p:spPr>
      </p:pic>
      <p:pic>
        <p:nvPicPr>
          <p:cNvPr id="10" name="Picture 9" descr="nti_logo_clean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8229600" y="4551274"/>
            <a:ext cx="640080" cy="31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dur="indefinite" nodeType="mainSeq">
                <p:childTnLst>
                  <p:par>
                    <p:cTn id="7" fill="hold">
                      <p:stCondLst>
                        <p:cond delay="30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dur="indefinite" nodeType="mainSeq">
                <p:childTnLst>
                  <p:par>
                    <p:cTn id="11" fill="hold">
                      <p:stCondLst>
                        <p:cond delay="60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  <p:transition spd="fast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ystem Architecture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6E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0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</a:rPr>
              <a:t>System Architecture &amp; Workflow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730000"/>
            <a:ext cx="82296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0" dirty="0">
                <a:solidFill>
                  <a:srgbClr val="0B9BA0"/>
                </a:solidFill>
                <a:latin typeface="Calibri"/>
              </a:rPr>
              <a:t>End-to-end AI pipeline: from patient input to adaptive rehabilitation plan</a:t>
            </a:r>
          </a:p>
        </p:txBody>
      </p:sp>
      <p:sp>
        <p:nvSpPr>
          <p:cNvPr id="10" name="LabelInput"/>
          <p:cNvSpPr/>
          <p:nvPr/>
        </p:nvSpPr>
        <p:spPr>
          <a:xfrm>
            <a:off x="457200" y="1060000"/>
            <a:ext cx="1300000" cy="230000"/>
          </a:xfrm>
          <a:prstGeom prst="rect">
            <a:avLst/>
          </a:prstGeom>
          <a:solidFill>
            <a:srgbClr val="0B6E72"/>
          </a:solidFill>
          <a:ln>
            <a:noFill/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INPUT LAYER</a:t>
            </a:r>
          </a:p>
        </p:txBody>
      </p:sp>
      <p:sp>
        <p:nvSpPr>
          <p:cNvPr id="11" name="BoxUser"/>
          <p:cNvSpPr/>
          <p:nvPr/>
        </p:nvSpPr>
        <p:spPr>
          <a:xfrm>
            <a:off x="457200" y="1340000"/>
            <a:ext cx="1300000" cy="280000"/>
          </a:xfrm>
          <a:prstGeom prst="roundRect">
            <a:avLst>
              <a:gd name="adj" fmla="val 25000"/>
            </a:avLst>
          </a:prstGeom>
          <a:solidFill>
            <a:srgbClr val="0D3340"/>
          </a:solidFill>
          <a:ln w="20000">
            <a:solidFill>
              <a:srgbClr val="0B6E72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👤 User</a:t>
            </a:r>
          </a:p>
        </p:txBody>
      </p:sp>
      <p:sp>
        <p:nvSpPr>
          <p:cNvPr id="12" name="Arr1"/>
          <p:cNvSpPr/>
          <p:nvPr/>
        </p:nvSpPr>
        <p:spPr>
          <a:xfrm>
            <a:off x="1027200" y="1620000"/>
            <a:ext cx="160000" cy="17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B6E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BoxInjury"/>
          <p:cNvSpPr/>
          <p:nvPr/>
        </p:nvSpPr>
        <p:spPr>
          <a:xfrm>
            <a:off x="457200" y="1790000"/>
            <a:ext cx="1300000" cy="280000"/>
          </a:xfrm>
          <a:prstGeom prst="roundRect">
            <a:avLst>
              <a:gd name="adj" fmla="val 25000"/>
            </a:avLst>
          </a:prstGeom>
          <a:solidFill>
            <a:srgbClr val="0D3340"/>
          </a:solidFill>
          <a:ln w="20000">
            <a:solidFill>
              <a:srgbClr val="0B6E72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Injury Input</a:t>
            </a:r>
          </a:p>
        </p:txBody>
      </p:sp>
      <p:sp>
        <p:nvSpPr>
          <p:cNvPr id="14" name="ArrR1"/>
          <p:cNvSpPr/>
          <p:nvPr/>
        </p:nvSpPr>
        <p:spPr>
          <a:xfrm>
            <a:off x="1757200" y="1900000"/>
            <a:ext cx="270000" cy="15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6E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LabelPlanning"/>
          <p:cNvSpPr/>
          <p:nvPr/>
        </p:nvSpPr>
        <p:spPr>
          <a:xfrm>
            <a:off x="2080000" y="1060000"/>
            <a:ext cx="1550000" cy="230000"/>
          </a:xfrm>
          <a:prstGeom prst="rect">
            <a:avLst/>
          </a:prstGeom>
          <a:solidFill>
            <a:srgbClr val="7D3C00"/>
          </a:solidFill>
          <a:ln>
            <a:noFill/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AI PLANNING</a:t>
            </a:r>
          </a:p>
        </p:txBody>
      </p:sp>
      <p:sp>
        <p:nvSpPr>
          <p:cNvPr id="21" name="BoxRehab"/>
          <p:cNvSpPr/>
          <p:nvPr/>
        </p:nvSpPr>
        <p:spPr>
          <a:xfrm>
            <a:off x="2080000" y="1340000"/>
            <a:ext cx="1550000" cy="280000"/>
          </a:xfrm>
          <a:prstGeom prst="roundRect">
            <a:avLst>
              <a:gd name="adj" fmla="val 25000"/>
            </a:avLst>
          </a:prstGeom>
          <a:solidFill>
            <a:srgbClr val="2D1500"/>
          </a:solidFill>
          <a:ln w="20000">
            <a:solidFill>
              <a:srgbClr val="E07820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/>
              </a:rPr>
              <a:t>Rehab Planning Agent</a:t>
            </a:r>
          </a:p>
        </p:txBody>
      </p:sp>
      <p:sp>
        <p:nvSpPr>
          <p:cNvPr id="22" name="Arr2"/>
          <p:cNvSpPr/>
          <p:nvPr/>
        </p:nvSpPr>
        <p:spPr>
          <a:xfrm>
            <a:off x="2775000" y="1620000"/>
            <a:ext cx="160000" cy="17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078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BoxExPlan"/>
          <p:cNvSpPr/>
          <p:nvPr/>
        </p:nvSpPr>
        <p:spPr>
          <a:xfrm>
            <a:off x="2080000" y="1790000"/>
            <a:ext cx="1550000" cy="280000"/>
          </a:xfrm>
          <a:prstGeom prst="roundRect">
            <a:avLst>
              <a:gd name="adj" fmla="val 25000"/>
            </a:avLst>
          </a:prstGeom>
          <a:solidFill>
            <a:srgbClr val="2D1500"/>
          </a:solidFill>
          <a:ln w="20000">
            <a:solidFill>
              <a:srgbClr val="E07820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Exercise Plan</a:t>
            </a:r>
          </a:p>
        </p:txBody>
      </p:sp>
      <p:sp>
        <p:nvSpPr>
          <p:cNvPr id="24" name="ArrR2"/>
          <p:cNvSpPr/>
          <p:nvPr/>
        </p:nvSpPr>
        <p:spPr>
          <a:xfrm>
            <a:off x="3680000" y="1900000"/>
            <a:ext cx="270000" cy="15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78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LabelCV"/>
          <p:cNvSpPr/>
          <p:nvPr/>
        </p:nvSpPr>
        <p:spPr>
          <a:xfrm>
            <a:off x="4000000" y="1060000"/>
            <a:ext cx="1680000" cy="23000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COMPUTER VISION</a:t>
            </a:r>
          </a:p>
        </p:txBody>
      </p:sp>
      <p:sp>
        <p:nvSpPr>
          <p:cNvPr id="31" name="BoxCamera"/>
          <p:cNvSpPr/>
          <p:nvPr/>
        </p:nvSpPr>
        <p:spPr>
          <a:xfrm>
            <a:off x="4000000" y="1340000"/>
            <a:ext cx="1680000" cy="280000"/>
          </a:xfrm>
          <a:prstGeom prst="roundRect">
            <a:avLst>
              <a:gd name="adj" fmla="val 25000"/>
            </a:avLst>
          </a:prstGeom>
          <a:solidFill>
            <a:srgbClr val="0D1F3A"/>
          </a:solidFill>
          <a:ln w="20000">
            <a:solidFill>
              <a:srgbClr val="4472C4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📷 Camera</a:t>
            </a:r>
          </a:p>
        </p:txBody>
      </p:sp>
      <p:sp>
        <p:nvSpPr>
          <p:cNvPr id="32" name="Arr3"/>
          <p:cNvSpPr/>
          <p:nvPr/>
        </p:nvSpPr>
        <p:spPr>
          <a:xfrm>
            <a:off x="4760000" y="1620000"/>
            <a:ext cx="160000" cy="17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BoxPose"/>
          <p:cNvSpPr/>
          <p:nvPr/>
        </p:nvSpPr>
        <p:spPr>
          <a:xfrm>
            <a:off x="4000000" y="1790000"/>
            <a:ext cx="1680000" cy="310000"/>
          </a:xfrm>
          <a:prstGeom prst="roundRect">
            <a:avLst>
              <a:gd name="adj" fmla="val 25000"/>
            </a:avLst>
          </a:prstGeom>
          <a:solidFill>
            <a:srgbClr val="0D1F3A"/>
          </a:solidFill>
          <a:ln w="20000">
            <a:solidFill>
              <a:srgbClr val="4472C4"/>
            </a:solidFill>
          </a:ln>
        </p:spPr>
        <p:txBody>
          <a:bodyPr wrap="square" lIns="60000" tIns="20000" rIns="60000" bIns="20000" rtlCol="0" anchor="ctr"/>
          <a:lstStyle/>
          <a:p>
            <a:pPr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/>
              </a:rPr>
              <a:t>Pose Estimation</a:t>
            </a:r>
          </a:p>
          <a:p>
            <a:pPr algn="ctr">
              <a:buNone/>
            </a:pPr>
            <a:r>
              <a:rPr lang="en-US" sz="820" b="0" dirty="0">
                <a:solidFill>
                  <a:srgbClr val="7FB3FF"/>
                </a:solidFill>
                <a:latin typeface="Calibri"/>
              </a:rPr>
              <a:t>(MediaPipe BlazePose)</a:t>
            </a:r>
          </a:p>
        </p:txBody>
      </p:sp>
      <p:sp>
        <p:nvSpPr>
          <p:cNvPr id="34" name="Arr4"/>
          <p:cNvSpPr/>
          <p:nvPr/>
        </p:nvSpPr>
        <p:spPr>
          <a:xfrm>
            <a:off x="4760000" y="2100000"/>
            <a:ext cx="160000" cy="17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BoxRepCounter"/>
          <p:cNvSpPr/>
          <p:nvPr/>
        </p:nvSpPr>
        <p:spPr>
          <a:xfrm>
            <a:off x="4000000" y="2270000"/>
            <a:ext cx="1680000" cy="280000"/>
          </a:xfrm>
          <a:prstGeom prst="roundRect">
            <a:avLst>
              <a:gd name="adj" fmla="val 25000"/>
            </a:avLst>
          </a:prstGeom>
          <a:solidFill>
            <a:srgbClr val="0D1F3A"/>
          </a:solidFill>
          <a:ln w="20000">
            <a:solidFill>
              <a:srgbClr val="4472C4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Rep Counter</a:t>
            </a:r>
          </a:p>
        </p:txBody>
      </p:sp>
      <p:sp>
        <p:nvSpPr>
          <p:cNvPr id="36" name="Arr5"/>
          <p:cNvSpPr/>
          <p:nvPr/>
        </p:nvSpPr>
        <p:spPr>
          <a:xfrm>
            <a:off x="4760000" y="2550000"/>
            <a:ext cx="160000" cy="17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BoxFormEval"/>
          <p:cNvSpPr/>
          <p:nvPr/>
        </p:nvSpPr>
        <p:spPr>
          <a:xfrm>
            <a:off x="4000000" y="2720000"/>
            <a:ext cx="1680000" cy="280000"/>
          </a:xfrm>
          <a:prstGeom prst="roundRect">
            <a:avLst>
              <a:gd name="adj" fmla="val 25000"/>
            </a:avLst>
          </a:prstGeom>
          <a:solidFill>
            <a:srgbClr val="0D1F3A"/>
          </a:solidFill>
          <a:ln w="20000">
            <a:solidFill>
              <a:srgbClr val="4472C4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Form Evaluation</a:t>
            </a:r>
          </a:p>
        </p:txBody>
      </p:sp>
      <p:sp>
        <p:nvSpPr>
          <p:cNvPr id="38" name="ArrR3"/>
          <p:cNvSpPr/>
          <p:nvPr/>
        </p:nvSpPr>
        <p:spPr>
          <a:xfrm>
            <a:off x="5730000" y="2835000"/>
            <a:ext cx="270000" cy="15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LabelFeedback"/>
          <p:cNvSpPr/>
          <p:nvPr/>
        </p:nvSpPr>
        <p:spPr>
          <a:xfrm>
            <a:off x="6050000" y="1060000"/>
            <a:ext cx="1960000" cy="230000"/>
          </a:xfrm>
          <a:prstGeom prst="rect">
            <a:avLst/>
          </a:prstGeom>
          <a:solidFill>
            <a:srgbClr val="0A5430"/>
          </a:solidFill>
          <a:ln>
            <a:noFill/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AI FEEDBACK &amp; ADAPTATION</a:t>
            </a:r>
          </a:p>
        </p:txBody>
      </p:sp>
      <p:sp>
        <p:nvSpPr>
          <p:cNvPr id="41" name="BoxCoaching"/>
          <p:cNvSpPr/>
          <p:nvPr/>
        </p:nvSpPr>
        <p:spPr>
          <a:xfrm>
            <a:off x="6050000" y="1340000"/>
            <a:ext cx="1960000" cy="280000"/>
          </a:xfrm>
          <a:prstGeom prst="roundRect">
            <a:avLst>
              <a:gd name="adj" fmla="val 25000"/>
            </a:avLst>
          </a:prstGeom>
          <a:solidFill>
            <a:srgbClr val="0A2216"/>
          </a:solidFill>
          <a:ln w="20000">
            <a:solidFill>
              <a:srgbClr val="27AE60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</a:rPr>
              <a:t>Real-Time Coaching Agent</a:t>
            </a:r>
          </a:p>
        </p:txBody>
      </p:sp>
      <p:sp>
        <p:nvSpPr>
          <p:cNvPr id="42" name="Arr6"/>
          <p:cNvSpPr/>
          <p:nvPr/>
        </p:nvSpPr>
        <p:spPr>
          <a:xfrm>
            <a:off x="6950000" y="1620000"/>
            <a:ext cx="160000" cy="17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BoxAudio"/>
          <p:cNvSpPr/>
          <p:nvPr/>
        </p:nvSpPr>
        <p:spPr>
          <a:xfrm>
            <a:off x="6050000" y="1790000"/>
            <a:ext cx="1960000" cy="280000"/>
          </a:xfrm>
          <a:prstGeom prst="roundRect">
            <a:avLst>
              <a:gd name="adj" fmla="val 25000"/>
            </a:avLst>
          </a:prstGeom>
          <a:solidFill>
            <a:srgbClr val="0A2216"/>
          </a:solidFill>
          <a:ln w="20000">
            <a:solidFill>
              <a:srgbClr val="27AE60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🔊 Audio Feedback</a:t>
            </a:r>
          </a:p>
        </p:txBody>
      </p:sp>
      <p:sp>
        <p:nvSpPr>
          <p:cNvPr id="44" name="Arr7"/>
          <p:cNvSpPr/>
          <p:nvPr/>
        </p:nvSpPr>
        <p:spPr>
          <a:xfrm>
            <a:off x="6950000" y="2070000"/>
            <a:ext cx="160000" cy="17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BoxSession"/>
          <p:cNvSpPr/>
          <p:nvPr/>
        </p:nvSpPr>
        <p:spPr>
          <a:xfrm>
            <a:off x="6050000" y="2240000"/>
            <a:ext cx="1960000" cy="280000"/>
          </a:xfrm>
          <a:prstGeom prst="roundRect">
            <a:avLst>
              <a:gd name="adj" fmla="val 25000"/>
            </a:avLst>
          </a:prstGeom>
          <a:solidFill>
            <a:srgbClr val="0A2216"/>
          </a:solidFill>
          <a:ln w="20000">
            <a:solidFill>
              <a:srgbClr val="27AE60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📊 Session Data</a:t>
            </a:r>
          </a:p>
        </p:txBody>
      </p:sp>
      <p:sp>
        <p:nvSpPr>
          <p:cNvPr id="46" name="Arr8"/>
          <p:cNvSpPr/>
          <p:nvPr/>
        </p:nvSpPr>
        <p:spPr>
          <a:xfrm>
            <a:off x="6950000" y="2520000"/>
            <a:ext cx="160000" cy="17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BoxProgress"/>
          <p:cNvSpPr/>
          <p:nvPr/>
        </p:nvSpPr>
        <p:spPr>
          <a:xfrm>
            <a:off x="6050000" y="2690000"/>
            <a:ext cx="1960000" cy="280000"/>
          </a:xfrm>
          <a:prstGeom prst="roundRect">
            <a:avLst>
              <a:gd name="adj" fmla="val 25000"/>
            </a:avLst>
          </a:prstGeom>
          <a:solidFill>
            <a:srgbClr val="0A2216"/>
          </a:solidFill>
          <a:ln w="20000">
            <a:solidFill>
              <a:srgbClr val="27AE60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</a:rPr>
              <a:t>Progress Summary Agent</a:t>
            </a:r>
          </a:p>
        </p:txBody>
      </p:sp>
      <p:sp>
        <p:nvSpPr>
          <p:cNvPr id="48" name="Arr9"/>
          <p:cNvSpPr/>
          <p:nvPr/>
        </p:nvSpPr>
        <p:spPr>
          <a:xfrm>
            <a:off x="6950000" y="2970000"/>
            <a:ext cx="160000" cy="17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BoxAdaptive"/>
          <p:cNvSpPr/>
          <p:nvPr/>
        </p:nvSpPr>
        <p:spPr>
          <a:xfrm>
            <a:off x="6050000" y="3140000"/>
            <a:ext cx="1960000" cy="280000"/>
          </a:xfrm>
          <a:prstGeom prst="roundRect">
            <a:avLst>
              <a:gd name="adj" fmla="val 25000"/>
            </a:avLst>
          </a:prstGeom>
          <a:solidFill>
            <a:srgbClr val="0A2216"/>
          </a:solidFill>
          <a:ln w="20000">
            <a:solidFill>
              <a:srgbClr val="27AE60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</a:rPr>
              <a:t>Adaptive Plan Agent</a:t>
            </a:r>
          </a:p>
        </p:txBody>
      </p:sp>
      <p:sp>
        <p:nvSpPr>
          <p:cNvPr id="60" name="Arr10"/>
          <p:cNvSpPr/>
          <p:nvPr/>
        </p:nvSpPr>
        <p:spPr>
          <a:xfrm>
            <a:off x="6950000" y="3420000"/>
            <a:ext cx="160000" cy="17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BoxUpdated"/>
          <p:cNvSpPr/>
          <p:nvPr/>
        </p:nvSpPr>
        <p:spPr>
          <a:xfrm>
            <a:off x="6050000" y="3590000"/>
            <a:ext cx="1960000" cy="300000"/>
          </a:xfrm>
          <a:prstGeom prst="roundRect">
            <a:avLst>
              <a:gd name="adj" fmla="val 25000"/>
            </a:avLst>
          </a:prstGeom>
          <a:solidFill>
            <a:srgbClr val="0B6E72"/>
          </a:solidFill>
          <a:ln w="20000">
            <a:solidFill>
              <a:srgbClr val="FFFFFF"/>
            </a:solidFill>
          </a:ln>
        </p:spPr>
        <p:txBody>
          <a:bodyPr wrap="square" lIns="60000" tIns="30000" rIns="60000" bIns="3000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✅ Updated Plan</a:t>
            </a:r>
          </a:p>
        </p:txBody>
      </p:sp>
      <p:sp>
        <p:nvSpPr>
          <p:cNvPr id="70" name="LoopH"/>
          <p:cNvSpPr/>
          <p:nvPr/>
        </p:nvSpPr>
        <p:spPr>
          <a:xfrm>
            <a:off x="1757200" y="3930000"/>
            <a:ext cx="4292800" cy="70000"/>
          </a:xfrm>
          <a:prstGeom prst="rect">
            <a:avLst/>
          </a:prstGeom>
          <a:solidFill>
            <a:srgbClr val="0B6E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LoopV"/>
          <p:cNvSpPr/>
          <p:nvPr/>
        </p:nvSpPr>
        <p:spPr>
          <a:xfrm>
            <a:off x="1757200" y="1790000"/>
            <a:ext cx="70000" cy="2140000"/>
          </a:xfrm>
          <a:prstGeom prst="rect">
            <a:avLst/>
          </a:prstGeom>
          <a:solidFill>
            <a:srgbClr val="0B6E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LoopUpArr"/>
          <p:cNvSpPr/>
          <p:nvPr/>
        </p:nvSpPr>
        <p:spPr>
          <a:xfrm>
            <a:off x="1717200" y="1620000"/>
            <a:ext cx="150000" cy="17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B6E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LoopConnRight"/>
          <p:cNvSpPr/>
          <p:nvPr/>
        </p:nvSpPr>
        <p:spPr>
          <a:xfrm>
            <a:off x="6050000" y="3930000"/>
            <a:ext cx="1960000" cy="70000"/>
          </a:xfrm>
          <a:prstGeom prst="rect">
            <a:avLst/>
          </a:prstGeom>
          <a:solidFill>
            <a:srgbClr val="0B6E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LoopLabel"/>
          <p:cNvSpPr/>
          <p:nvPr/>
        </p:nvSpPr>
        <p:spPr>
          <a:xfrm>
            <a:off x="2800000" y="3970000"/>
            <a:ext cx="2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i="1" dirty="0">
                <a:solidFill>
                  <a:srgbClr val="0B9BA0"/>
                </a:solidFill>
                <a:latin typeface="Calibri"/>
              </a:rPr>
              <a:t>↻ Adaptive Feedback Loop</a:t>
            </a:r>
          </a:p>
        </p:txBody>
      </p:sp>
      <p:sp>
        <p:nvSpPr>
          <p:cNvPr id="80" name="Footer"/>
          <p:cNvSpPr/>
          <p:nvPr/>
        </p:nvSpPr>
        <p:spPr>
          <a:xfrm>
            <a:off x="457200" y="4820000"/>
            <a:ext cx="40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72"/>
                </a:solidFill>
                <a:latin typeface="Calibri"/>
              </a:rPr>
              <a:t>FormaFix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 xml:space="preserve">  |  AI-Powered Physiotherapy &amp; Rehabilitation</a:t>
            </a:r>
          </a:p>
        </p:txBody>
      </p:sp>
    </p:spTree>
  </p:cSld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1285</Words>
  <Application>Microsoft Office PowerPoint</Application>
  <PresentationFormat>On-screen Show (16:9)</PresentationFormat>
  <Paragraphs>287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FormaFix — AI-Powered Physiotherapy System</dc:title>
  <dc:subject>PptxGenJS Presentation</dc:subject>
  <dc:creator>FormaFix Team</dc:creator>
  <cp:lastModifiedBy>Kyrollos Labib</cp:lastModifiedBy>
  <cp:revision>3</cp:revision>
  <dcterms:created xsi:type="dcterms:W3CDTF">2026-03-31T21:12:12Z</dcterms:created>
  <dcterms:modified xsi:type="dcterms:W3CDTF">2026-04-01T05:33:45Z</dcterms:modified>
</cp:coreProperties>
</file>